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-1016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3175" y="1494502"/>
            <a:ext cx="8008376" cy="228108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8426" y="4945624"/>
            <a:ext cx="8001000" cy="904568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24" y="299116"/>
            <a:ext cx="8259098" cy="101803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887793"/>
            <a:ext cx="8246070" cy="4483507"/>
          </a:xfrm>
        </p:spPr>
        <p:txBody>
          <a:bodyPr/>
          <a:lstStyle>
            <a:lvl1pPr algn="l">
              <a:defRPr sz="2800">
                <a:solidFill>
                  <a:srgbClr val="002060"/>
                </a:solidFill>
              </a:defRPr>
            </a:lvl1pPr>
            <a:lvl2pPr algn="l">
              <a:defRPr>
                <a:solidFill>
                  <a:srgbClr val="002060"/>
                </a:solidFill>
              </a:defRPr>
            </a:lvl2pPr>
            <a:lvl3pPr algn="l">
              <a:defRPr>
                <a:solidFill>
                  <a:srgbClr val="002060"/>
                </a:solidFill>
              </a:defRPr>
            </a:lvl3pPr>
            <a:lvl4pPr algn="l">
              <a:defRPr>
                <a:solidFill>
                  <a:srgbClr val="002060"/>
                </a:solidFill>
              </a:defRPr>
            </a:lvl4pPr>
            <a:lvl5pPr algn="l"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6873" y="542050"/>
            <a:ext cx="6937885" cy="967132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8186" y="1524001"/>
            <a:ext cx="6961240" cy="4727329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19" y="283536"/>
            <a:ext cx="8093365" cy="1018033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2040204"/>
            <a:ext cx="4040188" cy="63976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670067"/>
            <a:ext cx="4040188" cy="3035059"/>
          </a:xfrm>
        </p:spPr>
        <p:txBody>
          <a:bodyPr/>
          <a:lstStyle>
            <a:lvl1pPr algn="ctr">
              <a:defRPr sz="2400">
                <a:solidFill>
                  <a:srgbClr val="002060"/>
                </a:solidFill>
              </a:defRPr>
            </a:lvl1pPr>
            <a:lvl2pPr algn="ctr">
              <a:defRPr sz="2000">
                <a:solidFill>
                  <a:srgbClr val="002060"/>
                </a:solidFill>
              </a:defRPr>
            </a:lvl2pPr>
            <a:lvl3pPr algn="ctr">
              <a:defRPr sz="1800">
                <a:solidFill>
                  <a:srgbClr val="002060"/>
                </a:solidFill>
              </a:defRPr>
            </a:lvl3pPr>
            <a:lvl4pPr algn="ctr">
              <a:defRPr sz="1600">
                <a:solidFill>
                  <a:srgbClr val="002060"/>
                </a:solidFill>
              </a:defRPr>
            </a:lvl4pPr>
            <a:lvl5pPr algn="ctr"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3" y="2040204"/>
            <a:ext cx="4041775" cy="63976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3" y="2670067"/>
            <a:ext cx="4041775" cy="3035059"/>
          </a:xfrm>
        </p:spPr>
        <p:txBody>
          <a:bodyPr/>
          <a:lstStyle>
            <a:lvl1pPr algn="ctr">
              <a:defRPr sz="2400">
                <a:solidFill>
                  <a:srgbClr val="002060"/>
                </a:solidFill>
              </a:defRPr>
            </a:lvl1pPr>
            <a:lvl2pPr algn="ctr">
              <a:defRPr sz="2000">
                <a:solidFill>
                  <a:srgbClr val="002060"/>
                </a:solidFill>
              </a:defRPr>
            </a:lvl2pPr>
            <a:lvl3pPr algn="ctr">
              <a:defRPr sz="1800">
                <a:solidFill>
                  <a:srgbClr val="002060"/>
                </a:solidFill>
              </a:defRPr>
            </a:lvl3pPr>
            <a:lvl4pPr algn="ctr">
              <a:defRPr sz="1600">
                <a:solidFill>
                  <a:srgbClr val="002060"/>
                </a:solidFill>
              </a:defRPr>
            </a:lvl4pPr>
            <a:lvl5pPr algn="ctr"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08B89D22-1D6E-450B-881F-4D2A4C527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3101618"/>
            <a:ext cx="1463784" cy="7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E867DF-3DCA-4725-94F0-F2B6BD747A82}"/>
              </a:ext>
            </a:extLst>
          </p:cNvPr>
          <p:cNvSpPr txBox="1"/>
          <p:nvPr/>
        </p:nvSpPr>
        <p:spPr>
          <a:xfrm>
            <a:off x="-9150" y="6951663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>
                <a:latin typeface="Inter"/>
              </a:rPr>
              <a:t>Dynamic College Website CMS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000">
                <a:latin typeface="Inter"/>
              </a:rPr>
              <a:t>Techno India Main Project</a:t>
            </a:r>
          </a:p>
          <a:p>
            <a:r>
              <a:rPr sz="2000">
                <a:latin typeface="Inter"/>
              </a:rPr>
              <a:t>Spring Boot Implementation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Inter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Static websites require manual code editing for every update.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Lack of real-time communication between college admin and students.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Difficulty in managing course curriculum and notices efficiently.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Dependency on technical staff for minor content changes.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Inter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To develop a dynamic Content Management System (CMS).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To provide an intuitive Admin Interface for data management.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To ensure real-time updates of academic programs and facilities.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To implement a secure and scalable backend architecture.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Inter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896260"/>
            <a:ext cx="8246070" cy="4483507"/>
          </a:xfrm>
        </p:spPr>
        <p:txBody>
          <a:bodyPr>
            <a:normAutofit/>
          </a:bodyPr>
          <a:lstStyle/>
          <a:p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A full-stack web application replacing legacy static pages.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Built with Java Spring Boot for robust backend processing.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Features a decoupled architecture with </a:t>
            </a:r>
            <a:r>
              <a:rPr sz="2400" dirty="0" err="1">
                <a:solidFill>
                  <a:schemeClr val="bg2">
                    <a:lumMod val="10000"/>
                  </a:schemeClr>
                </a:solidFill>
                <a:latin typeface="Inter"/>
              </a:rPr>
              <a:t>Thymeleaf</a:t>
            </a: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 frontend.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Focuses on usability, performance, and data integrity.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63739" y="618310"/>
            <a:ext cx="2768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nter"/>
                <a:ea typeface="+mj-ea"/>
                <a:cs typeface="+mj-cs"/>
              </a:rPr>
              <a:t>System Architecture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334" y="1837267"/>
            <a:ext cx="7315200" cy="4114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Inter"/>
              </a:rPr>
              <a:t>Architecture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MVC Pattern: Model-View-Controller separation.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Controller: REST endpoints receiving client requests.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Service: Core business logic and transaction management.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Repository: Data persistence using Spring Data JPA.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Database: Relational schema storing structured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Inter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Dynamic Content Management: Update courses/notices instantly.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Admin Dashboard: Secure access to CRUD operations.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Responsive UI: Mobile-friendly design with Bootstrap/CSS.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Search &amp; Filter: Easy navigation for academic programs.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Scalable Database: Optimized for high data volume.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Inter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Backend: Spring Boot 3.3.0, Java 17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Frontend: </a:t>
            </a:r>
            <a:r>
              <a:rPr sz="2400" dirty="0" err="1">
                <a:solidFill>
                  <a:schemeClr val="bg2">
                    <a:lumMod val="10000"/>
                  </a:schemeClr>
                </a:solidFill>
                <a:latin typeface="Inter"/>
              </a:rPr>
              <a:t>Thymeleaf</a:t>
            </a: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, HTML5, CSS3, JavaScript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Database: </a:t>
            </a:r>
            <a:r>
              <a:rPr sz="2400" dirty="0" smtClean="0">
                <a:solidFill>
                  <a:schemeClr val="bg2">
                    <a:lumMod val="10000"/>
                  </a:schemeClr>
                </a:solidFill>
                <a:latin typeface="Inter"/>
              </a:rPr>
              <a:t>MySQL</a:t>
            </a:r>
            <a:endParaRPr sz="2400" dirty="0">
              <a:solidFill>
                <a:schemeClr val="bg2">
                  <a:lumMod val="10000"/>
                </a:schemeClr>
              </a:solidFill>
              <a:latin typeface="Inter"/>
            </a:endParaRP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Tools: Maven, STS </a:t>
            </a:r>
            <a:r>
              <a:rPr sz="2400" dirty="0" smtClean="0">
                <a:solidFill>
                  <a:schemeClr val="bg2">
                    <a:lumMod val="10000"/>
                  </a:schemeClr>
                </a:solidFill>
                <a:latin typeface="Inter"/>
              </a:rPr>
              <a:t>IDE</a:t>
            </a:r>
            <a:endParaRPr sz="2400" dirty="0">
              <a:solidFill>
                <a:schemeClr val="bg2">
                  <a:lumMod val="10000"/>
                </a:schemeClr>
              </a:solidFill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Inter"/>
              </a:rP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000"/>
              </a:spcAft>
            </a:pPr>
            <a:r>
              <a:rPr sz="2400">
                <a:solidFill>
                  <a:schemeClr val="bg2">
                    <a:lumMod val="10000"/>
                  </a:schemeClr>
                </a:solidFill>
                <a:latin typeface="Inter"/>
              </a:rPr>
              <a:t>Entities: Degree, Course, PageSection, PageContent.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chemeClr val="bg2">
                    <a:lumMod val="10000"/>
                  </a:schemeClr>
                </a:solidFill>
                <a:latin typeface="Inter"/>
              </a:rPr>
              <a:t>Relationships: One-to-Many mapping (e.g., Degree -&gt; Courses).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chemeClr val="bg2">
                    <a:lumMod val="10000"/>
                  </a:schemeClr>
                </a:solidFill>
                <a:latin typeface="Inter"/>
              </a:rPr>
              <a:t>Normalization: ensuring data consistency and reducing redundancy.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chemeClr val="bg2">
                    <a:lumMod val="10000"/>
                  </a:schemeClr>
                </a:solidFill>
                <a:latin typeface="Inter"/>
              </a:rPr>
              <a:t>JPA Entities handling automatic table generation.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6068" y="612992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>
              <a:spcBef>
                <a:spcPct val="0"/>
              </a:spcBef>
            </a:pPr>
            <a:r>
              <a:rPr sz="2000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nter"/>
                <a:ea typeface="+mj-ea"/>
                <a:cs typeface="+mj-cs"/>
              </a:rPr>
              <a:t>System Demo</a:t>
            </a:r>
          </a:p>
        </p:txBody>
      </p:sp>
      <p:pic>
        <p:nvPicPr>
          <p:cNvPr id="3" name="Picture 2" descr="demo_screenshot_placeholder_17676258163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98158"/>
            <a:ext cx="731520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dirty="0">
                <a:latin typeface="Inter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Integration with Payment Gateway for admissions.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AI-based </a:t>
            </a:r>
            <a:r>
              <a:rPr sz="2400" dirty="0" err="1">
                <a:solidFill>
                  <a:schemeClr val="bg2">
                    <a:lumMod val="10000"/>
                  </a:schemeClr>
                </a:solidFill>
                <a:latin typeface="Inter"/>
              </a:rPr>
              <a:t>Chatbot</a:t>
            </a: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 for student queries.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Role-based Access Control (RBAC) implementation.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Mobile Application development using REST APIs.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dirty="0">
                <a:latin typeface="Inter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Successfully delivered a functional Dynamic CMS.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Streamlined the process of website content updates.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Demonstrated effective use of Spring Boot ecosystem.</a:t>
            </a:r>
          </a:p>
          <a:p>
            <a:pPr>
              <a:spcAft>
                <a:spcPts val="1000"/>
              </a:spcAft>
            </a:pP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Project </a:t>
            </a:r>
            <a:r>
              <a:rPr lang="en-IN" sz="2400" smtClean="0">
                <a:solidFill>
                  <a:schemeClr val="bg2">
                    <a:lumMod val="10000"/>
                  </a:schemeClr>
                </a:solidFill>
                <a:latin typeface="Inter"/>
              </a:rPr>
              <a:t>will be </a:t>
            </a:r>
            <a:r>
              <a:rPr sz="2400" smtClean="0">
                <a:solidFill>
                  <a:schemeClr val="bg2">
                    <a:lumMod val="10000"/>
                  </a:schemeClr>
                </a:solidFill>
                <a:latin typeface="Inter"/>
              </a:rPr>
              <a:t>ready </a:t>
            </a:r>
            <a:r>
              <a:rPr sz="2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for deployment and future enhancements.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60997-technology-template-16x9">
  <a:themeElements>
    <a:clrScheme name="Custom 1">
      <a:dk1>
        <a:srgbClr val="453D2B"/>
      </a:dk1>
      <a:lt1>
        <a:sysClr val="window" lastClr="FFFFFF"/>
      </a:lt1>
      <a:dk2>
        <a:srgbClr val="696464"/>
      </a:dk2>
      <a:lt2>
        <a:srgbClr val="E9E5DC"/>
      </a:lt2>
      <a:accent1>
        <a:srgbClr val="DF1C22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160997-technology-template-16x9</Template>
  <TotalTime>29</TotalTime>
  <Words>353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160997-technology-template-16x9</vt:lpstr>
      <vt:lpstr>Dynamic College Website CMS</vt:lpstr>
      <vt:lpstr>Problem Statement</vt:lpstr>
      <vt:lpstr>Objectives</vt:lpstr>
      <vt:lpstr>Project Overview</vt:lpstr>
      <vt:lpstr>PowerPoint Presentation</vt:lpstr>
      <vt:lpstr>Architecture Details</vt:lpstr>
      <vt:lpstr>Key Features</vt:lpstr>
      <vt:lpstr>Technology Stack</vt:lpstr>
      <vt:lpstr>Database Design</vt:lpstr>
      <vt:lpstr>PowerPoint Presentation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College Website CMS</dc:title>
  <dc:subject/>
  <dc:creator/>
  <cp:keywords/>
  <dc:description>generated using python-pptx</dc:description>
  <cp:lastModifiedBy>Saikat Dhara</cp:lastModifiedBy>
  <cp:revision>5</cp:revision>
  <dcterms:created xsi:type="dcterms:W3CDTF">2013-01-27T09:14:16Z</dcterms:created>
  <dcterms:modified xsi:type="dcterms:W3CDTF">2026-01-05T16:18:49Z</dcterms:modified>
  <cp:category/>
</cp:coreProperties>
</file>